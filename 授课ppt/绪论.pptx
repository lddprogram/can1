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58" r:id="rId4"/>
    <p:sldId id="270" r:id="rId5"/>
    <p:sldId id="273" r:id="rId6"/>
    <p:sldId id="274" r:id="rId7"/>
    <p:sldId id="275" r:id="rId8"/>
    <p:sldId id="276" r:id="rId9"/>
    <p:sldId id="272" r:id="rId10"/>
    <p:sldId id="271" r:id="rId11"/>
    <p:sldId id="261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A4D"/>
    <a:srgbClr val="4036CD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104" d="100"/>
          <a:sy n="104" d="100"/>
        </p:scale>
        <p:origin x="66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2168246" y="2101261"/>
            <a:ext cx="7855511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2168246" y="1402670"/>
            <a:ext cx="7855511" cy="69859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168246" y="3864569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68246" y="4160840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grpSp>
        <p:nvGrpSpPr>
          <p:cNvPr id="9938" name="组合 9937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8" name="任意多边形: 形状 7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" name="任意多边形: 形状 8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0" name="任意多边形: 形状 9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1" name="任意多边形: 形状 10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4" name="任意多边形: 形状 1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5" name="任意多边形: 形状 1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6" name="任意多边形: 形状 1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7" name="任意多边形: 形状 1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" name="任意多边形: 形状 1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" name="任意多边形: 形状 1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" name="任意多边形: 形状 1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" name="任意多边形: 形状 2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" name="任意多边形: 形状 2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" name="任意多边形: 形状 2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" name="任意多边形: 形状 2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" name="任意多边形: 形状 2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" name="任意多边形: 形状 2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" name="任意多边形: 形状 2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" name="任意多边形: 形状 2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" name="任意多边形: 形状 2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" name="任意多边形: 形状 2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" name="任意多边形: 形状 3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2" name="任意多边形: 形状 979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3" name="任意多边形: 形状 979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4" name="任意多边形: 形状 979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5" name="任意多边形: 形状 979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6" name="任意多边形: 形状 979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7" name="任意多边形: 形状 979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8" name="任意多边形: 形状 979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9" name="直接连接符 979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0" name="任意多边形: 形状 979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3" name="直接连接符 9802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4" name="任意多边形: 形状 9803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5" name="直接连接符 9804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6" name="任意多边形: 形状 9805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7" name="任意多边形: 形状 9806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8" name="任意多边形: 形状 9807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9" name="任意多边形: 形状 9808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0" name="任意多边形: 形状 9809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1" name="任意多边形: 形状 9810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2" name="任意多边形: 形状 9811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3" name="任意多边形: 形状 9812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4" name="任意多边形: 形状 98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5" name="任意多边形: 形状 9814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6" name="任意多边形: 形状 9815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7" name="任意多边形: 形状 9816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8" name="任意多边形: 形状 9817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9" name="任意多边形: 形状 9818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0" name="直接连接符 9819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1" name="任意多边形: 形状 9820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2" name="直接连接符 9821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3" name="任意多边形: 形状 9822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4" name="直接连接符 9823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5" name="任意多边形: 形状 9824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6" name="任意多边形: 形状 9825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7" name="任意多边形: 形状 9826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8" name="任意多边形: 形状 9827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9" name="任意多边形: 形状 9828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0" name="任意多边形: 形状 9829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1" name="任意多边形: 形状 9830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2" name="任意多边形: 形状 983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3" name="任意多边形: 形状 9832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4" name="任意多边形: 形状 9833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5" name="任意多边形: 形状 9834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6" name="任意多边形: 形状 9835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7" name="任意多边形: 形状 9836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8" name="任意多边形: 形状 9837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9" name="任意多边形: 形状 9838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0" name="任意多边形: 形状 9839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1" name="任意多边形: 形状 9840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2" name="任意多边形: 形状 9841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3" name="任意多边形: 形状 9842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4" name="任意多边形: 形状 9843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5" name="任意多边形: 形状 984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6" name="任意多边形: 形状 9845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7" name="任意多边形: 形状 9846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8" name="任意多边形: 形状 9847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9" name="任意多边形: 形状 9848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0" name="任意多边形: 形状 9849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1" name="任意多边形: 形状 9850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2" name="任意多边形: 形状 9851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3" name="任意多边形: 形状 9852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4" name="任意多边形: 形状 985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5" name="任意多边形: 形状 9854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6" name="任意多边形: 形状 9855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7" name="任意多边形: 形状 9856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8" name="任意多边形: 形状 9857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9" name="任意多边形: 形状 9858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0" name="任意多边形: 形状 9859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1" name="直接连接符 9860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2" name="任意多边形: 形状 9861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3" name="任意多边形: 形状 9862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4" name="任意多边形: 形状 9863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5" name="任意多边形: 形状 9864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6" name="任意多边形: 形状 9865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7" name="任意多边形: 形状 9866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8" name="任意多边形: 形状 9867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9" name="任意多边形: 形状 9868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0" name="任意多边形: 形状 9869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1" name="任意多边形: 形状 9870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2" name="任意多边形: 形状 98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3" name="任意多边形: 形状 9872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4" name="任意多边形: 形状 9873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5" name="任意多边形: 形状 9874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6" name="直接连接符 9875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7" name="任意多边形: 形状 9876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8" name="任意多边形: 形状 9877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9" name="直接连接符 9878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0" name="直接连接符 9879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1" name="直接连接符 9880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2" name="任意多边形: 形状 9881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3" name="任意多边形: 形状 9882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4" name="任意多边形: 形状 9883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5" name="任意多边形: 形状 9884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6" name="任意多边形: 形状 9885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7" name="任意多边形: 形状 9886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8" name="任意多边形: 形状 9887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9" name="任意多边形: 形状 9888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0" name="任意多边形: 形状 9889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1" name="任意多边形: 形状 9890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2" name="任意多边形: 形状 98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3" name="任意多边形: 形状 9892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4" name="任意多边形: 形状 9893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5" name="任意多边形: 形状 9894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6" name="直接连接符 9895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7" name="任意多边形: 形状 9896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8" name="任意多边形: 形状 9897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9" name="直接连接符 9898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0" name="直接连接符 9899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1" name="直接连接符 9900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2" name="任意多边形: 形状 9901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3" name="任意多边形: 形状 9902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4" name="任意多边形: 形状 9903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5" name="任意多边形: 形状 9904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6" name="任意多边形: 形状 9905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7" name="任意多边形: 形状 990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8" name="任意多边形: 形状 9907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9" name="任意多边形: 形状 9908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0" name="任意多边形: 形状 99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1" name="任意多边形: 形状 9910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2" name="任意多边形: 形状 9911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3" name="任意多边形: 形状 991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4" name="任意多边形: 形状 9913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5" name="任意多边形: 形状 9914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6" name="任意多边形: 形状 9915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7" name="任意多边形: 形状 991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8" name="任意多边形: 形状 9917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9" name="任意多边形: 形状 9918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0" name="任意多边形: 形状 9919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1" name="任意多边形: 形状 9920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2" name="任意多边形: 形状 9921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3" name="任意多边形: 形状 9922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4" name="任意多边形: 形状 9923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5" name="任意多边形: 形状 992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6" name="任意多边形: 形状 9925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7" name="任意多边形: 形状 9926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8" name="任意多边形: 形状 99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9" name="任意多边形: 形状 9928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0" name="任意多边形: 形状 9929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1" name="任意多边形: 形状 993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2" name="任意多边形: 形状 9931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3" name="任意多边形: 形状 9932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4" name="任意多边形: 形状 9933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5" name="任意多边形: 形状 993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6" name="任意多边形: 形状 9935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7" name="任意多边形: 形状 9936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638177" y="635000"/>
            <a:ext cx="10918825" cy="558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3386409" y="2743654"/>
            <a:ext cx="5419185" cy="8953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3386409" y="3639006"/>
            <a:ext cx="5419185" cy="1015623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301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5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7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50616-94FA-4F8C-B49C-5CD1BB0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2025/10/26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9664480-D645-43BD-896D-DC0BDBEE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 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46A2231-11F9-489B-9492-E00E511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3382963" y="1135065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382963" y="3130430"/>
            <a:ext cx="5426076" cy="310871"/>
          </a:xfrm>
        </p:spPr>
        <p:txBody>
          <a:bodyPr vert="horz" lIns="91440" tIns="45720" rIns="91440" bIns="45720" rtlCol="0" anchor="ctr" anchorCtr="1">
            <a:noAutofit/>
          </a:bodyPr>
          <a:lstStyle>
            <a:lvl1pPr marL="171442" marR="0" indent="-171442" algn="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2963" y="3441300"/>
            <a:ext cx="5426076" cy="31087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grpSp>
        <p:nvGrpSpPr>
          <p:cNvPr id="179" name="组合 178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180" name="任意多边形: 形状 179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1" name="任意多边形: 形状 180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2" name="任意多边形: 形状 181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3" name="任意多边形: 形状 182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4" name="任意多边形: 形状 18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5" name="任意多边形: 形状 18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6" name="任意多边形: 形状 18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7" name="任意多边形: 形状 18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8" name="任意多边形: 形状 18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9" name="任意多边形: 形状 18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0" name="任意多边形: 形状 18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1" name="任意多边形: 形状 19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2" name="任意多边形: 形状 19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3" name="任意多边形: 形状 19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4" name="任意多边形: 形状 19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5" name="任意多边形: 形状 19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6" name="任意多边形: 形状 19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7" name="任意多边形: 形状 19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8" name="任意多边形: 形状 19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9" name="任意多边形: 形状 19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0" name="任意多边形: 形状 19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1" name="任意多边形: 形状 20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2" name="任意多边形: 形状 20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3" name="任意多边形: 形状 20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4" name="任意多边形: 形状 20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5" name="任意多边形: 形状 20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6" name="任意多边形: 形状 20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7" name="任意多边形: 形状 20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8" name="任意多边形: 形状 20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9" name="直接连接符 20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0" name="任意多边形: 形状 20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1" name="直接连接符 210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2" name="任意多边形: 形状 211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3" name="直接连接符 212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4" name="任意多边形: 形状 2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5" name="任意多边形: 形状 214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6" name="任意多边形: 形状 215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7" name="任意多边形: 形状 216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8" name="任意多边形: 形状 217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9" name="任意多边形: 形状 218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0" name="任意多边形: 形状 219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1" name="任意多边形: 形状 220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2" name="任意多边形: 形状 221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3" name="任意多边形: 形状 222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4" name="任意多边形: 形状 223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5" name="任意多边形: 形状 224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6" name="任意多边形: 形状 225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7" name="任意多边形: 形状 226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8" name="直接连接符 227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9" name="任意多边形: 形状 228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0" name="直接连接符 229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1" name="任意多边形: 形状 230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2" name="直接连接符 231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3" name="任意多边形: 形状 232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4" name="任意多边形: 形状 233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5" name="任意多边形: 形状 234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6" name="任意多边形: 形状 235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7" name="任意多边形: 形状 236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8" name="任意多边形: 形状 237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9" name="任意多边形: 形状 238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0" name="任意多边形: 形状 239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1" name="任意多边形: 形状 240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2" name="任意多边形: 形状 24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3" name="任意多边形: 形状 242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4" name="任意多边形: 形状 243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5" name="任意多边形: 形状 244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6" name="任意多边形: 形状 245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7" name="任意多边形: 形状 246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8" name="任意多边形: 形状 247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9" name="任意多边形: 形状 248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0" name="任意多边形: 形状 249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1" name="任意多边形: 形状 250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2" name="任意多边形: 形状 251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3" name="任意多边形: 形状 252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4" name="任意多边形: 形状 253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5" name="任意多边形: 形状 25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6" name="任意多边形: 形状 255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7" name="任意多边形: 形状 256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8" name="任意多边形: 形状 257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9" name="任意多边形: 形状 258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0" name="任意多边形: 形状 259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1" name="任意多边形: 形状 260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2" name="任意多边形: 形状 261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3" name="任意多边形: 形状 262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4" name="任意多边形: 形状 26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5" name="任意多边形: 形状 264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6" name="任意多边形: 形状 265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7" name="任意多边形: 形状 266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8" name="任意多边形: 形状 267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9" name="直接连接符 268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0" name="任意多边形: 形状 269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1" name="任意多边形: 形状 270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2" name="任意多边形: 形状 2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3" name="任意多边形: 形状 272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4" name="任意多边形: 形状 273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5" name="任意多边形: 形状 274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6" name="任意多边形: 形状 275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7" name="任意多边形: 形状 276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8" name="任意多边形: 形状 277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9" name="任意多边形: 形状 278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0" name="任意多边形: 形状 279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1" name="任意多边形: 形状 280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2" name="任意多边形: 形状 281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3" name="任意多边形: 形状 282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4" name="直接连接符 283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5" name="任意多边形: 形状 284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6" name="任意多边形: 形状 285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7" name="直接连接符 286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8" name="直接连接符 287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9" name="直接连接符 288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0" name="任意多边形: 形状 289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1" name="任意多边形: 形状 290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2" name="任意多边形: 形状 2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3" name="任意多边形: 形状 292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4" name="任意多边形: 形状 293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5" name="任意多边形: 形状 294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6" name="任意多边形: 形状 295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7" name="任意多边形: 形状 296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8" name="任意多边形: 形状 297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9" name="任意多边形: 形状 298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0" name="任意多边形: 形状 299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1" name="任意多边形: 形状 300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2" name="任意多边形: 形状 301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3" name="任意多边形: 形状 302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4" name="直接连接符 303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5" name="任意多边形: 形状 304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6" name="任意多边形: 形状 305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7" name="直接连接符 306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8" name="直接连接符 307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9" name="直接连接符 308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0" name="任意多边形: 形状 3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1" name="任意多边形: 形状 310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2" name="任意多边形: 形状 311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3" name="任意多边形: 形状 312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4" name="任意多边形: 形状 313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5" name="任意多边形: 形状 314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6" name="任意多边形: 形状 315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7" name="任意多边形: 形状 31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8" name="任意多边形: 形状 317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9" name="任意多边形: 形状 318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0" name="任意多边形: 形状 319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1" name="任意多边形: 形状 320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2" name="任意多边形: 形状 321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3" name="任意多边形: 形状 32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4" name="任意多边形: 形状 323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5" name="任意多边形: 形状 324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6" name="任意多边形: 形状 325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7" name="任意多边形: 形状 32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8" name="任意多边形: 形状 3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9" name="任意多边形: 形状 328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0" name="任意多边形: 形状 329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1" name="任意多边形: 形状 330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2" name="任意多边形: 形状 331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3" name="任意多边形: 形状 332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4" name="任意多边形: 形状 333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5" name="任意多边形: 形状 33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6" name="任意多边形: 形状 335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7" name="任意多边形: 形状 336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8" name="任意多边形: 形状 337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9" name="任意多边形: 形状 338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0" name="任意多边形: 形状 339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1" name="任意多边形: 形状 34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2" name="任意多边形: 形状 341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3" name="任意多边形: 形状 342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4" name="任意多边形: 形状 343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5" name="任意多边形: 形状 34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2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2025/10/26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4046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5" r:id="rId4"/>
    <p:sldLayoutId id="2147483662" r:id="rId5"/>
    <p:sldLayoutId id="2147483655" r:id="rId6"/>
    <p:sldLayoutId id="2147483661" r:id="rId7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3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y14y1G7QD/?spm_id_from=333.337.search-card.all.click&amp;vd_source=c665d41a68eadc47e421fe5d87c9f26a" TargetMode="External"/><Relationship Id="rId2" Type="http://schemas.openxmlformats.org/officeDocument/2006/relationships/hyperlink" Target="https://www.bilibili.com/video/BV1a2e4zvEip/?spm_id_from=333.1007.top_right_bar_window_custom_collection.content.click&amp;vd_source=c665d41a68eadc47e421fe5d87c9f26a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xu4y167zd/?spm_id_from=333.788.top_right_bar_window_custom_collection.content.click&amp;vd_source=c665d41a68eadc47e421fe5d87c9f26a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027038" y="2881910"/>
            <a:ext cx="8137923" cy="41909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主讲人：林家明</a:t>
            </a:r>
            <a:endParaRPr lang="en-US" altLang="zh-CN" sz="20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026444" y="1634578"/>
            <a:ext cx="8137923" cy="1247332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残值辅助输入设备开发课程</a:t>
            </a:r>
            <a:r>
              <a:rPr lang="en-US" altLang="zh-CN" dirty="0"/>
              <a:t>01</a:t>
            </a:r>
            <a:endParaRPr lang="zh-CN" altLang="en-US" sz="4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010FB2-7CA3-6315-22DA-C494C8FE9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2025.10.29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0644" y="1591407"/>
            <a:ext cx="10769844" cy="4149969"/>
            <a:chOff x="757282" y="1700808"/>
            <a:chExt cx="10763205" cy="4083608"/>
          </a:xfrm>
        </p:grpSpPr>
        <p:grpSp>
          <p:nvGrpSpPr>
            <p:cNvPr id="6" name="组合 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0" dirty="0">
                    <a:latin typeface="+mn-lt"/>
                    <a:ea typeface="+mn-ea"/>
                    <a:sym typeface="+mn-lt"/>
                  </a:rPr>
                  <a:t>项目背景</a:t>
                </a:r>
                <a:endParaRPr lang="en-US" altLang="zh-CN" sz="2400" b="0" dirty="0">
                  <a:latin typeface="+mn-lt"/>
                  <a:ea typeface="+mn-ea"/>
                  <a:sym typeface="+mn-lt"/>
                </a:endParaRP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0" dirty="0">
                    <a:latin typeface="+mn-lt"/>
                    <a:ea typeface="+mn-ea"/>
                    <a:sym typeface="+mn-lt"/>
                  </a:rPr>
                  <a:t>核心技术绪论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0" dirty="0">
                    <a:sym typeface="+mn-lt"/>
                  </a:rPr>
                  <a:t>项目架构与技术路线</a:t>
                </a: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99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9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386407" y="2981325"/>
            <a:ext cx="5419185" cy="8953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项目背景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582498" y="2478881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无障碍技术发展趋势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42D32A-FD63-A70A-8064-67A50293D897}"/>
              </a:ext>
            </a:extLst>
          </p:cNvPr>
          <p:cNvSpPr txBox="1"/>
          <p:nvPr/>
        </p:nvSpPr>
        <p:spPr>
          <a:xfrm>
            <a:off x="353227" y="1174086"/>
            <a:ext cx="5934075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rPr lang="zh-CN" altLang="en-US" dirty="0"/>
              <a:t>全球无障碍技术发展现状</a:t>
            </a:r>
          </a:p>
          <a:p>
            <a:pPr lvl="1">
              <a:spcAft>
                <a:spcPts val="1000"/>
              </a:spcAft>
              <a:defRPr sz="1300"/>
            </a:pPr>
            <a:r>
              <a:rPr lang="zh-CN" altLang="en-US" dirty="0"/>
              <a:t>全球无障碍技术正从单一功能向智能化、个性化方向发展。</a:t>
            </a:r>
            <a:br>
              <a:rPr lang="zh-CN" altLang="en-US" dirty="0"/>
            </a:br>
            <a:r>
              <a:rPr lang="zh-CN" altLang="en-US" dirty="0"/>
              <a:t>发达国家已建立完善的无障碍技术标准与认证体系。</a:t>
            </a:r>
            <a:br>
              <a:rPr lang="zh-CN" altLang="en-US" dirty="0"/>
            </a:br>
            <a:r>
              <a:rPr lang="zh-CN" altLang="en-US" dirty="0"/>
              <a:t>中国无障碍技术起步较晚但发展迅速，政策支持力度大。</a:t>
            </a: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rPr lang="zh-CN" altLang="en-US" dirty="0"/>
              <a:t>技术融合趋势</a:t>
            </a:r>
          </a:p>
          <a:p>
            <a:pPr lvl="1">
              <a:spcAft>
                <a:spcPts val="1000"/>
              </a:spcAft>
              <a:defRPr sz="1300"/>
            </a:pPr>
            <a:r>
              <a:rPr lang="zh-CN" altLang="en-US" dirty="0"/>
              <a:t>物联网、</a:t>
            </a:r>
            <a:r>
              <a:rPr lang="en-US" altLang="zh-CN" dirty="0"/>
              <a:t>AI</a:t>
            </a:r>
            <a:r>
              <a:rPr lang="zh-CN" altLang="en-US" dirty="0"/>
              <a:t>与无障碍技术深度融合成为新趋势。</a:t>
            </a:r>
            <a:br>
              <a:rPr lang="zh-CN" altLang="en-US" dirty="0"/>
            </a:br>
            <a:r>
              <a:rPr lang="zh-CN" altLang="en-US" dirty="0"/>
              <a:t>多模态交互技术为残障人士提供更自然的使用体验。</a:t>
            </a:r>
            <a:br>
              <a:rPr lang="zh-CN" altLang="en-US" dirty="0"/>
            </a:br>
            <a:r>
              <a:rPr lang="zh-CN" altLang="en-US" dirty="0"/>
              <a:t>新算法使无障碍设备具备更强的感知更新与适配能力。</a:t>
            </a: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rPr lang="zh-CN" altLang="en-US" dirty="0"/>
              <a:t>政策支持与市场需求</a:t>
            </a:r>
          </a:p>
          <a:p>
            <a:pPr lvl="1">
              <a:spcAft>
                <a:spcPts val="1000"/>
              </a:spcAft>
              <a:defRPr sz="1300"/>
            </a:pPr>
            <a:r>
              <a:rPr lang="zh-CN" altLang="en-US" dirty="0"/>
              <a:t>国家十四五规划明确提出加强无障碍环境建设。</a:t>
            </a:r>
            <a:br>
              <a:rPr lang="zh-CN" altLang="en-US" dirty="0"/>
            </a:br>
            <a:r>
              <a:rPr lang="zh-CN" altLang="en-US" dirty="0"/>
              <a:t>残障人口约</a:t>
            </a:r>
            <a:r>
              <a:rPr lang="en-US" altLang="zh-CN" dirty="0"/>
              <a:t>8500</a:t>
            </a:r>
            <a:r>
              <a:rPr lang="zh-CN" altLang="en-US" dirty="0"/>
              <a:t>万，形成巨大的无障碍设备市场。</a:t>
            </a:r>
            <a:br>
              <a:rPr lang="zh-CN" altLang="en-US" dirty="0"/>
            </a:br>
            <a:r>
              <a:rPr lang="zh-CN" altLang="en-US" dirty="0"/>
              <a:t>社会对包容性设计的认知不断提升。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E18BF29-73BA-BE62-A76A-5A76F9398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421893"/>
              </p:ext>
            </p:extLst>
          </p:nvPr>
        </p:nvGraphicFramePr>
        <p:xfrm>
          <a:off x="539015" y="4354835"/>
          <a:ext cx="10750466" cy="19888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516758">
                  <a:extLst>
                    <a:ext uri="{9D8B030D-6E8A-4147-A177-3AD203B41FA5}">
                      <a16:colId xmlns:a16="http://schemas.microsoft.com/office/drawing/2014/main" val="2092703261"/>
                    </a:ext>
                  </a:extLst>
                </a:gridCol>
                <a:gridCol w="3616854">
                  <a:extLst>
                    <a:ext uri="{9D8B030D-6E8A-4147-A177-3AD203B41FA5}">
                      <a16:colId xmlns:a16="http://schemas.microsoft.com/office/drawing/2014/main" val="348972549"/>
                    </a:ext>
                  </a:extLst>
                </a:gridCol>
                <a:gridCol w="3616854">
                  <a:extLst>
                    <a:ext uri="{9D8B030D-6E8A-4147-A177-3AD203B41FA5}">
                      <a16:colId xmlns:a16="http://schemas.microsoft.com/office/drawing/2014/main" val="3280572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现有无障碍技术举例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核心原理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应用示例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705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脑机接口（</a:t>
                      </a:r>
                      <a:r>
                        <a:rPr lang="en-US" b="1" dirty="0"/>
                        <a:t>Brain–Computer Interface, BCI）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通过采集脑电信号（</a:t>
                      </a:r>
                      <a:r>
                        <a:rPr lang="en-US" altLang="zh-CN"/>
                        <a:t>EEG</a:t>
                      </a:r>
                      <a:r>
                        <a:rPr lang="zh-CN" altLang="en-US"/>
                        <a:t>）或神经信号，将用户意图转化为控制指令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控制轮椅移动、虚拟键盘输入、假肢运动控制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89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肌电控制（</a:t>
                      </a:r>
                      <a:r>
                        <a:rPr lang="en-US" b="1"/>
                        <a:t>EMG Control）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利用肌肉电信号识别动作意图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残肢假手控制、辅助机械臂操作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582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动作识别输入系统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通过加速度计、陀螺仪或摄像头识别身体动作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头部动作控制鼠标、手势操作电脑或手机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892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眼动追踪系统（</a:t>
                      </a:r>
                      <a:r>
                        <a:rPr lang="en-US" b="1" dirty="0"/>
                        <a:t>Eye Tracking）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通过红外摄像头追踪眼球运动并识别注视点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视线控制屏幕光标、实现点击与输入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337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语音控制系统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通过语音识别技术执行命令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智能语音输入、虚拟助手操作、智能家居控制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86082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60C3A05-0BBA-8C20-1135-ABD7DF05E2AA}"/>
              </a:ext>
            </a:extLst>
          </p:cNvPr>
          <p:cNvSpPr txBox="1"/>
          <p:nvPr/>
        </p:nvSpPr>
        <p:spPr>
          <a:xfrm>
            <a:off x="5914248" y="3698153"/>
            <a:ext cx="6097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2"/>
              </a:rPr>
              <a:t>升为国家战略！用意念就能操纵一切的脑机接口真的来了？</a:t>
            </a:r>
            <a:r>
              <a:rPr lang="en-US" altLang="zh-CN" sz="1200" dirty="0">
                <a:hlinkClick r:id="rId2"/>
              </a:rPr>
              <a:t>_</a:t>
            </a:r>
            <a:r>
              <a:rPr lang="zh-CN" altLang="en-US" sz="1200" dirty="0">
                <a:hlinkClick r:id="rId2"/>
              </a:rPr>
              <a:t>哔哩哔哩</a:t>
            </a:r>
            <a:r>
              <a:rPr lang="en-US" altLang="zh-CN" sz="1200" dirty="0">
                <a:hlinkClick r:id="rId2"/>
              </a:rPr>
              <a:t>_</a:t>
            </a:r>
            <a:r>
              <a:rPr lang="en-US" altLang="zh-CN" sz="1200" dirty="0" err="1">
                <a:hlinkClick r:id="rId2"/>
              </a:rPr>
              <a:t>bilibili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AE5C68-9A69-30D7-8A1A-EC547F29B652}"/>
              </a:ext>
            </a:extLst>
          </p:cNvPr>
          <p:cNvSpPr txBox="1"/>
          <p:nvPr/>
        </p:nvSpPr>
        <p:spPr>
          <a:xfrm>
            <a:off x="5914248" y="3266874"/>
            <a:ext cx="6097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3"/>
              </a:rPr>
              <a:t>世界先进仿生机械假肢：直接由大脑控制，还有触觉反馈！</a:t>
            </a:r>
            <a:r>
              <a:rPr lang="en-US" altLang="zh-CN" sz="1200" dirty="0">
                <a:hlinkClick r:id="rId3"/>
              </a:rPr>
              <a:t>_</a:t>
            </a:r>
            <a:r>
              <a:rPr lang="zh-CN" altLang="en-US" sz="1200" dirty="0">
                <a:hlinkClick r:id="rId3"/>
              </a:rPr>
              <a:t>哔哩哔哩</a:t>
            </a:r>
            <a:r>
              <a:rPr lang="en-US" altLang="zh-CN" sz="1200" dirty="0">
                <a:hlinkClick r:id="rId3"/>
              </a:rPr>
              <a:t>_</a:t>
            </a:r>
            <a:r>
              <a:rPr lang="en-US" altLang="zh-CN" sz="1200" dirty="0" err="1">
                <a:hlinkClick r:id="rId3"/>
              </a:rPr>
              <a:t>bilibili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5816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AFA8-0232-7865-0F1F-08AEAAD1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4AD3997-1D19-855F-D8B3-A24EB84F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407" y="2981325"/>
            <a:ext cx="5419185" cy="8953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核心技术绪论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B139CA-1969-3D15-B881-099B4149D542}"/>
              </a:ext>
            </a:extLst>
          </p:cNvPr>
          <p:cNvSpPr txBox="1"/>
          <p:nvPr/>
        </p:nvSpPr>
        <p:spPr>
          <a:xfrm>
            <a:off x="5582498" y="2478881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3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1268-4956-780E-8264-962A74E8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07102-A344-884B-9019-52AB631A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嵌入式系统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B92020-0697-DD1B-054F-07FF1FC1F0A1}"/>
              </a:ext>
            </a:extLst>
          </p:cNvPr>
          <p:cNvSpPr txBox="1"/>
          <p:nvPr/>
        </p:nvSpPr>
        <p:spPr>
          <a:xfrm>
            <a:off x="669925" y="1618082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嵌入式系统是一种专用计算机系统，被嵌入到设备中以控制其功能。它通常由硬件平台（微处理器、存储器、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I/O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接口）和软件系统（实时操作系统、应用程序）组成。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7EB339-7BD8-530C-5B76-EFFCAD045439}"/>
              </a:ext>
            </a:extLst>
          </p:cNvPr>
          <p:cNvSpPr txBox="1"/>
          <p:nvPr/>
        </p:nvSpPr>
        <p:spPr>
          <a:xfrm>
            <a:off x="669925" y="2935845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特点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功能专一：针对特定应用设计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体积小、功耗低、可靠性高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多为实时系统，对响应时间要求严格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/>
              <a:t>- </a:t>
            </a:r>
            <a:r>
              <a:rPr lang="zh-CN" altLang="en-US" dirty="0"/>
              <a:t>通常不可直接被用户编程或修改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D691F7-BE6A-C4C5-E2D4-9706D4F7A0A2}"/>
              </a:ext>
            </a:extLst>
          </p:cNvPr>
          <p:cNvSpPr txBox="1"/>
          <p:nvPr/>
        </p:nvSpPr>
        <p:spPr>
          <a:xfrm>
            <a:off x="669925" y="4259284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常见应用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智能家电（洗衣机、冰箱）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医疗设备（心率监测仪）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汽车电子系统（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ABS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、防撞系统）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工业控制与机器人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可穿戴设备（智能手表）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4B5827F-8693-89C2-9A68-E7C84C42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" b="13274"/>
          <a:stretch>
            <a:fillRect/>
          </a:stretch>
        </p:blipFill>
        <p:spPr>
          <a:xfrm>
            <a:off x="6904471" y="1618083"/>
            <a:ext cx="4277274" cy="48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91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31E0-9364-F9E3-83D4-80B60E7E7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1EF9E-C0B2-993B-2EBD-5F2F603D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传感器技术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FF2E32-11D1-82D7-580C-46D413DB7205}"/>
              </a:ext>
            </a:extLst>
          </p:cNvPr>
          <p:cNvSpPr txBox="1"/>
          <p:nvPr/>
        </p:nvSpPr>
        <p:spPr>
          <a:xfrm>
            <a:off x="669925" y="1417981"/>
            <a:ext cx="1026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        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·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传感器是指能感受（或响应）规定的被测量并按一定的规律转换成可用输出信号的器件或装置。    广义上说，传感器是指在测量装置和</a:t>
            </a:r>
            <a:r>
              <a:rPr lang="zh-CN" altLang="en-US" b="0" i="0" dirty="0">
                <a:solidFill>
                  <a:srgbClr val="4EA1DB"/>
                </a:solidFill>
                <a:effectLst/>
                <a:latin typeface="-apple-system"/>
              </a:rPr>
              <a:t>控制系统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输入部分中起信号检测作用的器件。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9D26BC-5421-EE9C-BB33-10B1056A4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508" y="2278508"/>
            <a:ext cx="5865091" cy="2094675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50C35A4-6AED-46ED-A0B3-2C9009F0A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336664"/>
              </p:ext>
            </p:extLst>
          </p:nvPr>
        </p:nvGraphicFramePr>
        <p:xfrm>
          <a:off x="549851" y="4172267"/>
          <a:ext cx="10850562" cy="23774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616854">
                  <a:extLst>
                    <a:ext uri="{9D8B030D-6E8A-4147-A177-3AD203B41FA5}">
                      <a16:colId xmlns:a16="http://schemas.microsoft.com/office/drawing/2014/main" val="1197988447"/>
                    </a:ext>
                  </a:extLst>
                </a:gridCol>
                <a:gridCol w="3616854">
                  <a:extLst>
                    <a:ext uri="{9D8B030D-6E8A-4147-A177-3AD203B41FA5}">
                      <a16:colId xmlns:a16="http://schemas.microsoft.com/office/drawing/2014/main" val="3626420354"/>
                    </a:ext>
                  </a:extLst>
                </a:gridCol>
                <a:gridCol w="3616854">
                  <a:extLst>
                    <a:ext uri="{9D8B030D-6E8A-4147-A177-3AD203B41FA5}">
                      <a16:colId xmlns:a16="http://schemas.microsoft.com/office/drawing/2014/main" val="2371397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/>
                        <a:t>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主要作用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75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温度传感器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热电偶、热敏电阻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测温度变化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813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/>
                        <a:t>压力传感器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压电式、应变式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测压力、应力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941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/>
                        <a:t>位移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加速度传感器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电容式、</a:t>
                      </a:r>
                      <a:r>
                        <a:rPr lang="en-US" altLang="zh-CN"/>
                        <a:t>MEMS</a:t>
                      </a:r>
                      <a:r>
                        <a:rPr lang="zh-CN" altLang="en-US"/>
                        <a:t>加速度计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测运动与振动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01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光传感器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光敏二极管、</a:t>
                      </a:r>
                      <a:r>
                        <a:rPr lang="en-US"/>
                        <a:t>CCD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测光强、颜色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878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声传感器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麦克风、超声波传感器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测声音、距离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344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化学传感器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/>
                        <a:t>气体传感器、</a:t>
                      </a:r>
                      <a:r>
                        <a:rPr lang="en-US" altLang="zh-CN" dirty="0"/>
                        <a:t>pH</a:t>
                      </a:r>
                      <a:r>
                        <a:rPr lang="zh-CN" altLang="en-US" dirty="0"/>
                        <a:t>电极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/>
                        <a:t>检测成分浓度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110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生物传感器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/>
                        <a:t>葡萄糖传感器、免疫传感器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/>
                        <a:t>医疗检测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768179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458D7F6-78FE-B57D-985F-33DDB2939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2151367"/>
            <a:ext cx="3262768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7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83310-DCA8-AF9E-160B-79289EC19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B65EE-ABE0-B7A1-31E0-91D1B94E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上位机控制软件程序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291D1B-9355-2144-C618-2DDE5B46E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28" y="1048818"/>
            <a:ext cx="6898063" cy="580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3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3CB8-9150-B5E4-6AEB-C864021F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4541876-7E37-721C-769C-1DF824A0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407" y="2981325"/>
            <a:ext cx="5419185" cy="8953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项目架构与技术路线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028875-B41A-A702-9BCB-C701FA478D87}"/>
              </a:ext>
            </a:extLst>
          </p:cNvPr>
          <p:cNvSpPr txBox="1"/>
          <p:nvPr/>
        </p:nvSpPr>
        <p:spPr>
          <a:xfrm>
            <a:off x="5582498" y="2478881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38123F-8F00-E80C-4925-A6521711A4B6}"/>
              </a:ext>
            </a:extLst>
          </p:cNvPr>
          <p:cNvSpPr txBox="1"/>
          <p:nvPr/>
        </p:nvSpPr>
        <p:spPr>
          <a:xfrm>
            <a:off x="4387273" y="43791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手搓脑机接口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哔哩哔哩</a:t>
            </a:r>
            <a:r>
              <a:rPr lang="en-US" altLang="zh-CN" dirty="0">
                <a:hlinkClick r:id="rId2"/>
              </a:rPr>
              <a:t>_</a:t>
            </a:r>
            <a:r>
              <a:rPr lang="en-US" altLang="zh-CN" dirty="0" err="1">
                <a:hlinkClick r:id="rId2"/>
              </a:rPr>
              <a:t>bilibili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262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75EA2-BEE0-0A59-6E27-2509BA749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B1A6C-5F2C-76CF-1E18-1D6CFB81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技术框架思维导图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E0A211-3850-B6E9-EFFD-3A41EE913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7866"/>
            <a:ext cx="12192000" cy="534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69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487813" y="1587452"/>
            <a:ext cx="6762064" cy="1621509"/>
          </a:xfrm>
        </p:spPr>
        <p:txBody>
          <a:bodyPr>
            <a:normAutofit fontScale="90000"/>
          </a:bodyPr>
          <a:lstStyle/>
          <a:p>
            <a:r>
              <a:rPr lang="en-US" altLang="zh-CN" sz="4000" dirty="0"/>
              <a:t>Thanks.</a:t>
            </a:r>
            <a:br>
              <a:rPr lang="en-US" altLang="zh-CN" sz="4000" dirty="0"/>
            </a:br>
            <a:r>
              <a:rPr lang="zh-CN" altLang="en-US" sz="4000" b="0" dirty="0"/>
              <a:t>技术不是冰冷的电路，而是改善生活的温度。</a:t>
            </a:r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e394199b-23a2-417b-a560-b31131c29d73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5AA4D"/>
      </a:accent1>
      <a:accent2>
        <a:srgbClr val="AF5034"/>
      </a:accent2>
      <a:accent3>
        <a:srgbClr val="B7B7B7"/>
      </a:accent3>
      <a:accent4>
        <a:srgbClr val="707070"/>
      </a:accent4>
      <a:accent5>
        <a:srgbClr val="CCCCC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145</TotalTime>
  <Words>655</Words>
  <Application>Microsoft Office PowerPoint</Application>
  <PresentationFormat>宽屏</PresentationFormat>
  <Paragraphs>85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-apple-system</vt:lpstr>
      <vt:lpstr>Arial</vt:lpstr>
      <vt:lpstr>Calibri</vt:lpstr>
      <vt:lpstr>Impact</vt:lpstr>
      <vt:lpstr>主题5</vt:lpstr>
      <vt:lpstr>残值辅助输入设备开发课程01</vt:lpstr>
      <vt:lpstr>PowerPoint 演示文稿</vt:lpstr>
      <vt:lpstr>项目背景</vt:lpstr>
      <vt:lpstr>无障碍技术发展趋势</vt:lpstr>
      <vt:lpstr>核心技术绪论</vt:lpstr>
      <vt:lpstr>2.1嵌入式系统</vt:lpstr>
      <vt:lpstr>2.2传感器技术</vt:lpstr>
      <vt:lpstr>2.3上位机控制软件程序</vt:lpstr>
      <vt:lpstr>项目架构与技术路线</vt:lpstr>
      <vt:lpstr>技术框架思维导图</vt:lpstr>
      <vt:lpstr>Thanks. 技术不是冰冷的电路，而是改善生活的温度。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友逸 周</cp:lastModifiedBy>
  <cp:revision>3</cp:revision>
  <cp:lastPrinted>2018-03-12T16:00:00Z</cp:lastPrinted>
  <dcterms:created xsi:type="dcterms:W3CDTF">2018-03-12T16:00:00Z</dcterms:created>
  <dcterms:modified xsi:type="dcterms:W3CDTF">2025-10-26T12:59:36Z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