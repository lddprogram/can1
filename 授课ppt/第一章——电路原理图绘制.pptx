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58" r:id="rId4"/>
    <p:sldId id="270" r:id="rId5"/>
    <p:sldId id="273" r:id="rId6"/>
    <p:sldId id="277" r:id="rId7"/>
    <p:sldId id="272" r:id="rId8"/>
    <p:sldId id="278" r:id="rId9"/>
    <p:sldId id="279" r:id="rId10"/>
    <p:sldId id="261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A4D"/>
    <a:srgbClr val="4036CD"/>
    <a:srgbClr val="A20000"/>
    <a:srgbClr val="A40000"/>
    <a:srgbClr val="9E0000"/>
    <a:srgbClr val="C7450B"/>
    <a:srgbClr val="E24E0C"/>
    <a:srgbClr val="DC6140"/>
    <a:srgbClr val="E60000"/>
    <a:srgbClr val="C96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99" d="100"/>
          <a:sy n="99" d="100"/>
        </p:scale>
        <p:origin x="82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2168246" y="2101261"/>
            <a:ext cx="7855511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2168246" y="1402670"/>
            <a:ext cx="7855511" cy="69859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168246" y="3864569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68246" y="4160840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4" name="矩形 3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grpSp>
        <p:nvGrpSpPr>
          <p:cNvPr id="9938" name="组合 9937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8" name="任意多边形: 形状 7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" name="任意多边形: 形状 8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0" name="任意多边形: 形状 9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1" name="任意多边形: 形状 10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4" name="任意多边形: 形状 1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5" name="任意多边形: 形状 1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6" name="任意多边形: 形状 1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7" name="任意多边形: 形状 1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" name="任意多边形: 形状 1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" name="任意多边形: 形状 1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" name="任意多边形: 形状 1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" name="任意多边形: 形状 2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" name="任意多边形: 形状 2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" name="任意多边形: 形状 2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" name="任意多边形: 形状 2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" name="任意多边形: 形状 2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" name="任意多边形: 形状 2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" name="任意多边形: 形状 2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" name="任意多边形: 形状 2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" name="任意多边形: 形状 2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" name="任意多边形: 形状 2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" name="任意多边形: 形状 3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2" name="任意多边形: 形状 979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3" name="任意多边形: 形状 979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4" name="任意多边形: 形状 979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5" name="任意多边形: 形状 979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6" name="任意多边形: 形状 979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7" name="任意多边形: 形状 979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8" name="任意多边形: 形状 979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9" name="直接连接符 979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0" name="任意多边形: 形状 979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3" name="直接连接符 9802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4" name="任意多边形: 形状 9803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5" name="直接连接符 9804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6" name="任意多边形: 形状 9805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7" name="任意多边形: 形状 9806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8" name="任意多边形: 形状 9807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9" name="任意多边形: 形状 9808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0" name="任意多边形: 形状 9809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1" name="任意多边形: 形状 9810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2" name="任意多边形: 形状 9811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3" name="任意多边形: 形状 9812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4" name="任意多边形: 形状 98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5" name="任意多边形: 形状 9814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6" name="任意多边形: 形状 9815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7" name="任意多边形: 形状 9816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8" name="任意多边形: 形状 9817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9" name="任意多边形: 形状 9818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0" name="直接连接符 9819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1" name="任意多边形: 形状 9820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2" name="直接连接符 9821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3" name="任意多边形: 形状 9822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4" name="直接连接符 9823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5" name="任意多边形: 形状 9824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6" name="任意多边形: 形状 9825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7" name="任意多边形: 形状 9826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8" name="任意多边形: 形状 9827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9" name="任意多边形: 形状 9828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0" name="任意多边形: 形状 9829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1" name="任意多边形: 形状 9830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2" name="任意多边形: 形状 983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3" name="任意多边形: 形状 9832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4" name="任意多边形: 形状 9833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5" name="任意多边形: 形状 9834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6" name="任意多边形: 形状 9835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7" name="任意多边形: 形状 9836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8" name="任意多边形: 形状 9837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9" name="任意多边形: 形状 9838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0" name="任意多边形: 形状 9839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1" name="任意多边形: 形状 9840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2" name="任意多边形: 形状 9841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3" name="任意多边形: 形状 9842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4" name="任意多边形: 形状 9843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5" name="任意多边形: 形状 984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6" name="任意多边形: 形状 9845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7" name="任意多边形: 形状 9846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8" name="任意多边形: 形状 9847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9" name="任意多边形: 形状 9848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0" name="任意多边形: 形状 9849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1" name="任意多边形: 形状 9850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2" name="任意多边形: 形状 9851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3" name="任意多边形: 形状 9852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4" name="任意多边形: 形状 985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5" name="任意多边形: 形状 9854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6" name="任意多边形: 形状 9855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7" name="任意多边形: 形状 9856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8" name="任意多边形: 形状 9857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9" name="任意多边形: 形状 9858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0" name="任意多边形: 形状 9859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1" name="直接连接符 9860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2" name="任意多边形: 形状 9861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3" name="任意多边形: 形状 9862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4" name="任意多边形: 形状 9863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5" name="任意多边形: 形状 9864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6" name="任意多边形: 形状 9865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7" name="任意多边形: 形状 9866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8" name="任意多边形: 形状 9867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9" name="任意多边形: 形状 9868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0" name="任意多边形: 形状 9869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1" name="任意多边形: 形状 9870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2" name="任意多边形: 形状 98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3" name="任意多边形: 形状 9872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4" name="任意多边形: 形状 9873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5" name="任意多边形: 形状 9874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6" name="直接连接符 9875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7" name="任意多边形: 形状 9876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8" name="任意多边形: 形状 9877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9" name="直接连接符 9878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0" name="直接连接符 9879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1" name="直接连接符 9880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2" name="任意多边形: 形状 9881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3" name="任意多边形: 形状 9882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4" name="任意多边形: 形状 9883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5" name="任意多边形: 形状 9884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6" name="任意多边形: 形状 9885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7" name="任意多边形: 形状 9886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8" name="任意多边形: 形状 9887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9" name="任意多边形: 形状 9888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0" name="任意多边形: 形状 9889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1" name="任意多边形: 形状 9890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2" name="任意多边形: 形状 98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3" name="任意多边形: 形状 9892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4" name="任意多边形: 形状 9893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5" name="任意多边形: 形状 9894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6" name="直接连接符 9895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7" name="任意多边形: 形状 9896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8" name="任意多边形: 形状 9897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9" name="直接连接符 9898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0" name="直接连接符 9899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1" name="直接连接符 9900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2" name="任意多边形: 形状 9901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3" name="任意多边形: 形状 9902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4" name="任意多边形: 形状 9903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5" name="任意多边形: 形状 9904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6" name="任意多边形: 形状 9905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7" name="任意多边形: 形状 990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8" name="任意多边形: 形状 9907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9" name="任意多边形: 形状 9908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0" name="任意多边形: 形状 99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1" name="任意多边形: 形状 9910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2" name="任意多边形: 形状 9911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3" name="任意多边形: 形状 991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4" name="任意多边形: 形状 9913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5" name="任意多边形: 形状 9914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6" name="任意多边形: 形状 9915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7" name="任意多边形: 形状 991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8" name="任意多边形: 形状 9917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9" name="任意多边形: 形状 9918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0" name="任意多边形: 形状 9919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1" name="任意多边形: 形状 9920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2" name="任意多边形: 形状 9921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3" name="任意多边形: 形状 9922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4" name="任意多边形: 形状 9923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5" name="任意多边形: 形状 992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6" name="任意多边形: 形状 9925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7" name="任意多边形: 形状 9926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8" name="任意多边形: 形状 99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9" name="任意多边形: 形状 9928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0" name="任意多边形: 形状 9929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1" name="任意多边形: 形状 993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2" name="任意多边形: 形状 9931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3" name="任意多边形: 形状 9932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4" name="任意多边形: 形状 9933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5" name="任意多边形: 形状 993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6" name="任意多边形: 形状 9935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7" name="任意多边形: 形状 9936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638177" y="635000"/>
            <a:ext cx="10918825" cy="558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3386409" y="2743654"/>
            <a:ext cx="5419185" cy="8953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3386409" y="3639006"/>
            <a:ext cx="5419185" cy="1015623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301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5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7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1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650616-94FA-4F8C-B49C-5CD1BB08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2025/12/3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9664480-D645-43BD-896D-DC0BDBEE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 </a:t>
            </a:r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846A2231-11F9-489B-9492-E00E511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3382963" y="1135065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382963" y="3130430"/>
            <a:ext cx="5426076" cy="310871"/>
          </a:xfrm>
        </p:spPr>
        <p:txBody>
          <a:bodyPr vert="horz" lIns="91440" tIns="45720" rIns="91440" bIns="45720" rtlCol="0" anchor="ctr" anchorCtr="1">
            <a:noAutofit/>
          </a:bodyPr>
          <a:lstStyle>
            <a:lvl1pPr marL="171442" marR="0" indent="-171442" algn="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Signature</a:t>
            </a:r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2963" y="3441300"/>
            <a:ext cx="5426076" cy="31087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grpSp>
        <p:nvGrpSpPr>
          <p:cNvPr id="179" name="组合 178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180" name="任意多边形: 形状 179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1" name="任意多边形: 形状 180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2" name="任意多边形: 形状 181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3" name="任意多边形: 形状 182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4" name="任意多边形: 形状 18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5" name="任意多边形: 形状 18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6" name="任意多边形: 形状 18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7" name="任意多边形: 形状 18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8" name="任意多边形: 形状 18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9" name="任意多边形: 形状 18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0" name="任意多边形: 形状 18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1" name="任意多边形: 形状 19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2" name="任意多边形: 形状 19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3" name="任意多边形: 形状 19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4" name="任意多边形: 形状 19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5" name="任意多边形: 形状 19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6" name="任意多边形: 形状 19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7" name="任意多边形: 形状 19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8" name="任意多边形: 形状 19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9" name="任意多边形: 形状 19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0" name="任意多边形: 形状 19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1" name="任意多边形: 形状 20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2" name="任意多边形: 形状 20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3" name="任意多边形: 形状 20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4" name="任意多边形: 形状 20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5" name="任意多边形: 形状 20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6" name="任意多边形: 形状 20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7" name="任意多边形: 形状 20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8" name="任意多边形: 形状 20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9" name="直接连接符 20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0" name="任意多边形: 形状 20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1" name="直接连接符 210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2" name="任意多边形: 形状 211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3" name="直接连接符 212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4" name="任意多边形: 形状 2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5" name="任意多边形: 形状 214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6" name="任意多边形: 形状 215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7" name="任意多边形: 形状 216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8" name="任意多边形: 形状 217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9" name="任意多边形: 形状 218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0" name="任意多边形: 形状 219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1" name="任意多边形: 形状 220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2" name="任意多边形: 形状 221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3" name="任意多边形: 形状 222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4" name="任意多边形: 形状 223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5" name="任意多边形: 形状 224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6" name="任意多边形: 形状 225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7" name="任意多边形: 形状 226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8" name="直接连接符 227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9" name="任意多边形: 形状 228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0" name="直接连接符 229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1" name="任意多边形: 形状 230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2" name="直接连接符 231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3" name="任意多边形: 形状 232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4" name="任意多边形: 形状 233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5" name="任意多边形: 形状 234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6" name="任意多边形: 形状 235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7" name="任意多边形: 形状 236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8" name="任意多边形: 形状 237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9" name="任意多边形: 形状 238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0" name="任意多边形: 形状 239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1" name="任意多边形: 形状 240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2" name="任意多边形: 形状 24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3" name="任意多边形: 形状 242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4" name="任意多边形: 形状 243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5" name="任意多边形: 形状 244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6" name="任意多边形: 形状 245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7" name="任意多边形: 形状 246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8" name="任意多边形: 形状 247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9" name="任意多边形: 形状 248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0" name="任意多边形: 形状 249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1" name="任意多边形: 形状 250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2" name="任意多边形: 形状 251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3" name="任意多边形: 形状 252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4" name="任意多边形: 形状 253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5" name="任意多边形: 形状 25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6" name="任意多边形: 形状 255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7" name="任意多边形: 形状 256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8" name="任意多边形: 形状 257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9" name="任意多边形: 形状 258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0" name="任意多边形: 形状 259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1" name="任意多边形: 形状 260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2" name="任意多边形: 形状 261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3" name="任意多边形: 形状 262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4" name="任意多边形: 形状 26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5" name="任意多边形: 形状 264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6" name="任意多边形: 形状 265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7" name="任意多边形: 形状 266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8" name="任意多边形: 形状 267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9" name="直接连接符 268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0" name="任意多边形: 形状 269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1" name="任意多边形: 形状 270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2" name="任意多边形: 形状 2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3" name="任意多边形: 形状 272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4" name="任意多边形: 形状 273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5" name="任意多边形: 形状 274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6" name="任意多边形: 形状 275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7" name="任意多边形: 形状 276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8" name="任意多边形: 形状 277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9" name="任意多边形: 形状 278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0" name="任意多边形: 形状 279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1" name="任意多边形: 形状 280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2" name="任意多边形: 形状 281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3" name="任意多边形: 形状 282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4" name="直接连接符 283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5" name="任意多边形: 形状 284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6" name="任意多边形: 形状 285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7" name="直接连接符 286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8" name="直接连接符 287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9" name="直接连接符 288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0" name="任意多边形: 形状 289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1" name="任意多边形: 形状 290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2" name="任意多边形: 形状 2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3" name="任意多边形: 形状 292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4" name="任意多边形: 形状 293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5" name="任意多边形: 形状 294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6" name="任意多边形: 形状 295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7" name="任意多边形: 形状 296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8" name="任意多边形: 形状 297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9" name="任意多边形: 形状 298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0" name="任意多边形: 形状 299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1" name="任意多边形: 形状 300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2" name="任意多边形: 形状 301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3" name="任意多边形: 形状 302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4" name="直接连接符 303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5" name="任意多边形: 形状 304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6" name="任意多边形: 形状 305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7" name="直接连接符 306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8" name="直接连接符 307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9" name="直接连接符 308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0" name="任意多边形: 形状 3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1" name="任意多边形: 形状 310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2" name="任意多边形: 形状 311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3" name="任意多边形: 形状 312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4" name="任意多边形: 形状 313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5" name="任意多边形: 形状 314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6" name="任意多边形: 形状 315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7" name="任意多边形: 形状 31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8" name="任意多边形: 形状 317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9" name="任意多边形: 形状 318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0" name="任意多边形: 形状 319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1" name="任意多边形: 形状 320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2" name="任意多边形: 形状 321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3" name="任意多边形: 形状 32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4" name="任意多边形: 形状 323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5" name="任意多边形: 形状 324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6" name="任意多边形: 形状 325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7" name="任意多边形: 形状 32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8" name="任意多边形: 形状 3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9" name="任意多边形: 形状 328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0" name="任意多边形: 形状 329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1" name="任意多边形: 形状 330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2" name="任意多边形: 形状 331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3" name="任意多边形: 形状 332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4" name="任意多边形: 形状 333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5" name="任意多边形: 形状 33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6" name="任意多边形: 形状 335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7" name="任意多边形: 形状 336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8" name="任意多边形: 形状 337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9" name="任意多边形: 形状 338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0" name="任意多边形: 形状 339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1" name="任意多边形: 形状 34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2" name="任意多边形: 形状 341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3" name="任意多边形: 形状 342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4" name="任意多边形: 形状 343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5" name="任意多边形: 形状 34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3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23952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2025/12/3</a:t>
            </a:fld>
            <a:endParaRPr lang="zh-CN" alt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5" y="624046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5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5" r:id="rId4"/>
    <p:sldLayoutId id="2147483662" r:id="rId5"/>
    <p:sldLayoutId id="2147483655" r:id="rId6"/>
    <p:sldLayoutId id="2147483661" r:id="rId7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3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027038" y="2881910"/>
            <a:ext cx="8137923" cy="419099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主讲人：林家明</a:t>
            </a:r>
            <a:endParaRPr lang="en-US" altLang="zh-CN" sz="20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026444" y="1634578"/>
            <a:ext cx="8137923" cy="1247332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残值辅助输入设备开发课程</a:t>
            </a:r>
            <a:r>
              <a:rPr lang="en-US" altLang="zh-CN" dirty="0"/>
              <a:t>04</a:t>
            </a:r>
            <a:endParaRPr lang="zh-CN" altLang="en-US" sz="40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010FB2-7CA3-6315-22DA-C494C8FE9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2025.10.29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0644" y="1591407"/>
            <a:ext cx="10769844" cy="4149969"/>
            <a:chOff x="757282" y="1700808"/>
            <a:chExt cx="10763205" cy="4083608"/>
          </a:xfrm>
        </p:grpSpPr>
        <p:grpSp>
          <p:nvGrpSpPr>
            <p:cNvPr id="6" name="组合 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sz="2400" b="0" dirty="0">
                    <a:latin typeface="+mn-lt"/>
                    <a:ea typeface="+mn-ea"/>
                    <a:sym typeface="+mn-lt"/>
                  </a:rPr>
                  <a:t>52832</a:t>
                </a:r>
                <a:r>
                  <a:rPr lang="zh-CN" altLang="en-US" sz="2400" b="0" dirty="0">
                    <a:latin typeface="+mn-lt"/>
                    <a:ea typeface="+mn-ea"/>
                    <a:sym typeface="+mn-lt"/>
                  </a:rPr>
                  <a:t>最小系统</a:t>
                </a:r>
                <a:endParaRPr lang="en-US" altLang="zh-CN" sz="2400" b="0" dirty="0">
                  <a:latin typeface="+mn-lt"/>
                  <a:ea typeface="+mn-ea"/>
                  <a:sym typeface="+mn-lt"/>
                </a:endParaRP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sz="2400" b="0" dirty="0">
                    <a:latin typeface="+mn-lt"/>
                    <a:ea typeface="+mn-ea"/>
                    <a:sym typeface="+mn-lt"/>
                  </a:rPr>
                  <a:t>MPU6050</a:t>
                </a:r>
                <a:endParaRPr lang="zh-CN" altLang="en-US" sz="2400" b="0" dirty="0">
                  <a:latin typeface="+mn-lt"/>
                  <a:ea typeface="+mn-ea"/>
                  <a:sym typeface="+mn-lt"/>
                </a:endParaRPr>
              </a:p>
              <a:p>
                <a:pPr marL="257175" indent="-257175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0" dirty="0">
                    <a:sym typeface="+mn-lt"/>
                  </a:rPr>
                  <a:t>电源管理电路</a:t>
                </a: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99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9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386407" y="2981325"/>
            <a:ext cx="5419185" cy="89535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52832</a:t>
            </a:r>
            <a:r>
              <a:rPr lang="zh-CN" altLang="en-US" sz="3200" dirty="0"/>
              <a:t>最小系统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582498" y="2478881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最小系统电路原理图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84F0A07-9A14-9290-AC91-68DDCA8F8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3" y="1149787"/>
            <a:ext cx="10814190" cy="45098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4A90E10-971A-DDBD-2DA5-A20AF5770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103" y="5433118"/>
            <a:ext cx="195289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3AFA8-0232-7865-0F1F-08AEAAD1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4AD3997-1D19-855F-D8B3-A24EB84F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407" y="2981325"/>
            <a:ext cx="5419185" cy="89535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MPU6050</a:t>
            </a:r>
            <a:endParaRPr lang="zh-CN" altLang="en-US" sz="3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B139CA-1969-3D15-B881-099B4149D542}"/>
              </a:ext>
            </a:extLst>
          </p:cNvPr>
          <p:cNvSpPr txBox="1"/>
          <p:nvPr/>
        </p:nvSpPr>
        <p:spPr>
          <a:xfrm>
            <a:off x="5582498" y="2478881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13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5E44D-8C71-C208-E225-400E29DD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48FC4-CC07-7EED-5FD9-9CA6B380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MPU6050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71D35E-0F09-AFE2-8C1B-C9BB0C333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69" y="1222354"/>
            <a:ext cx="9583487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53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3CB8-9150-B5E4-6AEB-C864021F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4541876-7E37-721C-769C-1DF824A0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407" y="2981325"/>
            <a:ext cx="5419185" cy="89535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电源管理电路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028875-B41A-A702-9BCB-C701FA478D87}"/>
              </a:ext>
            </a:extLst>
          </p:cNvPr>
          <p:cNvSpPr txBox="1"/>
          <p:nvPr/>
        </p:nvSpPr>
        <p:spPr>
          <a:xfrm>
            <a:off x="5582498" y="2478881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62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1D0E-40A5-77B9-B3EE-D4155EAB9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08791-62C1-B564-2EA7-99F147E05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TP4056</a:t>
            </a:r>
            <a:r>
              <a:rPr lang="zh-CN" altLang="en-US" dirty="0"/>
              <a:t>充电管理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C4B148-7076-90C7-4B37-4DEE81A91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42" y="1153830"/>
            <a:ext cx="10850563" cy="520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50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A8E9-0CC5-B442-7C30-082F0E6C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9D05A-6E95-D8EE-FD26-C153FF7D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LDO</a:t>
            </a:r>
            <a:r>
              <a:rPr lang="zh-CN" altLang="en-US" dirty="0"/>
              <a:t>稳压与其他接口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ABAD35-101F-3D56-BB33-77B71F2D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960" y="1472664"/>
            <a:ext cx="3091472" cy="31972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12C929-6274-7D09-916A-BDBE94583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7" y="1472665"/>
            <a:ext cx="4704761" cy="31972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118729A-80BF-4E96-C3CE-7D10D93BB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250" y="1462499"/>
            <a:ext cx="2682277" cy="332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7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487813" y="1587452"/>
            <a:ext cx="6762064" cy="1621509"/>
          </a:xfrm>
        </p:spPr>
        <p:txBody>
          <a:bodyPr>
            <a:normAutofit fontScale="90000"/>
          </a:bodyPr>
          <a:lstStyle/>
          <a:p>
            <a:r>
              <a:rPr lang="en-US" altLang="zh-CN" sz="4000" dirty="0"/>
              <a:t>Thanks.</a:t>
            </a:r>
            <a:br>
              <a:rPr lang="en-US" altLang="zh-CN" sz="4000" dirty="0"/>
            </a:br>
            <a:r>
              <a:rPr lang="zh-CN" altLang="en-US" sz="4000" b="0" dirty="0"/>
              <a:t>技术不是冰冷的电路，而是改善生活的温度。</a:t>
            </a:r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e394199b-23a2-417b-a560-b31131c29d73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5AA4D"/>
      </a:accent1>
      <a:accent2>
        <a:srgbClr val="AF5034"/>
      </a:accent2>
      <a:accent3>
        <a:srgbClr val="B7B7B7"/>
      </a:accent3>
      <a:accent4>
        <a:srgbClr val="707070"/>
      </a:accent4>
      <a:accent5>
        <a:srgbClr val="CCCCCC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185</TotalTime>
  <Words>61</Words>
  <Application>Microsoft Office PowerPoint</Application>
  <PresentationFormat>宽屏</PresentationFormat>
  <Paragraphs>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Impact</vt:lpstr>
      <vt:lpstr>主题5</vt:lpstr>
      <vt:lpstr>残值辅助输入设备开发课程04</vt:lpstr>
      <vt:lpstr>PowerPoint 演示文稿</vt:lpstr>
      <vt:lpstr>52832最小系统</vt:lpstr>
      <vt:lpstr>最小系统电路原理图</vt:lpstr>
      <vt:lpstr>MPU6050</vt:lpstr>
      <vt:lpstr>MPU6050</vt:lpstr>
      <vt:lpstr>电源管理电路</vt:lpstr>
      <vt:lpstr>TP4056充电管理</vt:lpstr>
      <vt:lpstr>LDO稳压与其他接口</vt:lpstr>
      <vt:lpstr>Thanks. 技术不是冰冷的电路，而是改善生活的温度。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友逸 周</cp:lastModifiedBy>
  <cp:revision>7</cp:revision>
  <cp:lastPrinted>2018-03-12T16:00:00Z</cp:lastPrinted>
  <dcterms:created xsi:type="dcterms:W3CDTF">2018-03-12T16:00:00Z</dcterms:created>
  <dcterms:modified xsi:type="dcterms:W3CDTF">2025-12-03T08:18:18Z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